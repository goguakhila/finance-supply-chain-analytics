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92" r:id="rId5"/>
    <p:sldId id="293" r:id="rId6"/>
    <p:sldId id="294" r:id="rId7"/>
    <p:sldId id="295" r:id="rId8"/>
    <p:sldId id="297" r:id="rId9"/>
    <p:sldId id="298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312" r:id="rId22"/>
    <p:sldId id="313" r:id="rId23"/>
    <p:sldId id="314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E0EB"/>
    <a:srgbClr val="AEC2D8"/>
    <a:srgbClr val="446992"/>
    <a:srgbClr val="98432A"/>
    <a:srgbClr val="D84400"/>
    <a:srgbClr val="44678D"/>
    <a:srgbClr val="263E5A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0FBEA1-2068-46E8-88DA-05890B315BC2}" v="77" dt="2025-10-23T08:00:29.5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634"/>
  </p:normalViewPr>
  <p:slideViewPr>
    <p:cSldViewPr snapToGrid="0" showGuides="1">
      <p:cViewPr varScale="1">
        <p:scale>
          <a:sx n="51" d="100"/>
          <a:sy n="51" d="100"/>
        </p:scale>
        <p:origin x="888" y="53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7/16/2026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A894A48D-3417-BE20-3062-A366096904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AC9ED954-709D-51DC-3EA0-0E06FE1D7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F57F2FB-2942-7663-E6DB-E3A976549D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D31FE42-8AA6-DC9C-5EE7-8737143C1D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8D246-FB21-4ACB-9068-6447CC7872F8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F659C92-43C4-05C5-9170-5CF256AF9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4923A81-0599-8ECF-BDF0-A4898D46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F3159-94EB-4F6B-8273-09F1A6B01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712883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312" y="90312"/>
            <a:ext cx="4405503" cy="1198910"/>
          </a:xfrm>
        </p:spPr>
        <p:txBody>
          <a:bodyPr/>
          <a:lstStyle/>
          <a:p>
            <a:r>
              <a:rPr lang="en-US" dirty="0">
                <a:highlight>
                  <a:srgbClr val="AEC2D8"/>
                </a:highlight>
              </a:rPr>
              <a:t>SQL PROJECT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60552" y="5568778"/>
            <a:ext cx="2123967" cy="1201427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PRESENTED BY</a:t>
            </a:r>
          </a:p>
          <a:p>
            <a:r>
              <a:rPr lang="en-US" b="1" dirty="0">
                <a:solidFill>
                  <a:schemeClr val="tx1"/>
                </a:solidFill>
              </a:rPr>
              <a:t>        AKHILA</a:t>
            </a:r>
          </a:p>
          <a:p>
            <a:endParaRPr lang="en-US" dirty="0"/>
          </a:p>
        </p:txBody>
      </p:sp>
      <p:pic>
        <p:nvPicPr>
          <p:cNvPr id="30" name="Picture placeholder 29" descr="People in an office discussing work over a laptop&#10;">
            <a:extLst>
              <a:ext uri="{FF2B5EF4-FFF2-40B4-BE49-F238E27FC236}">
                <a16:creationId xmlns:a16="http://schemas.microsoft.com/office/drawing/2014/main" id="{18C88B4D-F554-49C2-A23C-DFE94D4C835B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75" r="1875"/>
          <a:stretch/>
        </p:blipFill>
        <p:spPr>
          <a:xfrm>
            <a:off x="6826726" y="629908"/>
            <a:ext cx="4405503" cy="5066346"/>
          </a:xfrm>
        </p:spPr>
      </p:pic>
      <p:sp>
        <p:nvSpPr>
          <p:cNvPr id="10" name="Freeform: Shape 11">
            <a:extLst>
              <a:ext uri="{FF2B5EF4-FFF2-40B4-BE49-F238E27FC236}">
                <a16:creationId xmlns:a16="http://schemas.microsoft.com/office/drawing/2014/main" id="{01A79B69-242C-3AEB-4A42-7A606A54C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57505" y="838985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E5D4DE6D-89C8-6FFF-287D-3F3BAD416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4436" y="3694919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060471-B347-43E7-97D7-BD5F47C734C9}"/>
              </a:ext>
            </a:extLst>
          </p:cNvPr>
          <p:cNvSpPr txBox="1"/>
          <p:nvPr/>
        </p:nvSpPr>
        <p:spPr>
          <a:xfrm>
            <a:off x="203200" y="1161746"/>
            <a:ext cx="7924799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IN" sz="2800" b="1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FINANCE AND SUPPLY CHAIN ANALYTICS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2A1738-C474-7941-CE3A-FB6C96D41F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537" y="2216804"/>
            <a:ext cx="3442602" cy="3144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3DAF5-FB20-B641-08C8-0396603A8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596" y="1008434"/>
            <a:ext cx="3378520" cy="1317077"/>
          </a:xfrm>
          <a:solidFill>
            <a:schemeClr val="accent4">
              <a:lumMod val="60000"/>
              <a:lumOff val="40000"/>
            </a:schemeClr>
          </a:solidFill>
          <a:effectLst>
            <a:glow rad="228600">
              <a:schemeClr val="accent4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/>
          <a:lstStyle/>
          <a:p>
            <a:r>
              <a:rPr lang="en-IN" sz="2400" dirty="0">
                <a:latin typeface="Algerian" panose="04020705040A02060702" pitchFamily="82" charset="0"/>
              </a:rPr>
              <a:t>PROBLEM STATEMENT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532073-CED3-4ABD-D16B-9714FACA69CB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</a:t>
            </a:fld>
            <a:endParaRPr lang="en-US" altLang="zh-CN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FEC5DEC-04CB-5706-7709-954067E75221}"/>
              </a:ext>
            </a:extLst>
          </p:cNvPr>
          <p:cNvSpPr txBox="1">
            <a:spLocks/>
          </p:cNvSpPr>
          <p:nvPr/>
        </p:nvSpPr>
        <p:spPr>
          <a:xfrm>
            <a:off x="591596" y="3429000"/>
            <a:ext cx="3378520" cy="13170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glow rad="228600">
              <a:schemeClr val="accent4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dirty="0">
                <a:latin typeface="Algerian" panose="04020705040A02060702" pitchFamily="82" charset="0"/>
              </a:rPr>
              <a:t>PROJECT OVERVIEW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2911BF-BF38-A520-A5AF-6C38F2DC8B4F}"/>
              </a:ext>
            </a:extLst>
          </p:cNvPr>
          <p:cNvSpPr txBox="1"/>
          <p:nvPr/>
        </p:nvSpPr>
        <p:spPr>
          <a:xfrm>
            <a:off x="5373508" y="851364"/>
            <a:ext cx="6434667" cy="16312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glow rad="228600">
              <a:schemeClr val="accent4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AtliQ</a:t>
            </a: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Hardware is having trouble managing its growing Excel files — they’ve become too big and slow. To address this issue, the company established a data analytics team to </a:t>
            </a:r>
            <a:r>
              <a:rPr lang="en-US" sz="2000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utilise</a:t>
            </a: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MySQL and enhance data handling and business efficiency.</a:t>
            </a:r>
            <a:endParaRPr lang="en-IN" sz="2000" b="1" dirty="0">
              <a:solidFill>
                <a:schemeClr val="tx2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5FCA74-D373-20FC-AD13-6CBCE73D233C}"/>
              </a:ext>
            </a:extLst>
          </p:cNvPr>
          <p:cNvSpPr txBox="1"/>
          <p:nvPr/>
        </p:nvSpPr>
        <p:spPr>
          <a:xfrm>
            <a:off x="5373508" y="3422638"/>
            <a:ext cx="6434667" cy="132343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glow rad="228600">
              <a:schemeClr val="accent4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focuses on analyzing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AtliQ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Hardware’s data to find useful insights. The main aim is to understand sales performance, market trends, customer behavior, and predict supply chain needs.</a:t>
            </a:r>
            <a:endParaRPr lang="en-IN" sz="2000" b="1" dirty="0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89C27DDC-C9D6-EDFA-9EC1-D457C1CC5402}"/>
              </a:ext>
            </a:extLst>
          </p:cNvPr>
          <p:cNvSpPr/>
          <p:nvPr/>
        </p:nvSpPr>
        <p:spPr>
          <a:xfrm>
            <a:off x="4335009" y="3842041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29E05728-F787-2054-32F6-438167BAF68D}"/>
              </a:ext>
            </a:extLst>
          </p:cNvPr>
          <p:cNvSpPr/>
          <p:nvPr/>
        </p:nvSpPr>
        <p:spPr>
          <a:xfrm>
            <a:off x="4335009" y="172776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697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DF6D9-8877-FB2F-7E85-96E69A4DF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79" y="0"/>
            <a:ext cx="3717188" cy="452470"/>
          </a:xfrm>
          <a:solidFill>
            <a:srgbClr val="D6E0EB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/>
          <a:lstStyle/>
          <a:p>
            <a:r>
              <a:rPr lang="en-IN" sz="2800" dirty="0">
                <a:latin typeface="Algerian" panose="04020705040A02060702" pitchFamily="82" charset="0"/>
                <a:ea typeface="Calibri" panose="020F0502020204030204" pitchFamily="34" charset="0"/>
                <a:cs typeface="Calibri" panose="020F0502020204030204" pitchFamily="34" charset="0"/>
              </a:rPr>
              <a:t>FINANCE ANALYTICS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938803-BA1C-72C0-66D5-93813A07520C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</a:t>
            </a:fld>
            <a:endParaRPr lang="en-US" altLang="zh-C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05BDB4A-0ACD-98E3-1E76-8406A7EB74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180881" y="542526"/>
            <a:ext cx="5879940" cy="62170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3">
            <a:extLst>
              <a:ext uri="{FF2B5EF4-FFF2-40B4-BE49-F238E27FC236}">
                <a16:creationId xmlns:a16="http://schemas.microsoft.com/office/drawing/2014/main" id="{C4532AF3-C96A-A51D-FD65-5B13C9AD4D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-110840661" y="2824388"/>
            <a:ext cx="74990868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Retrieves sales data for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90002002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fiscal year 2021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showing product name, variant, sold quantity, gross price, and total gross price.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Joins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fact_sales_monthly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dim_product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fact_gross_price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tables using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product_code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fiscal_year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the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get_fiscal_year()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function to extract the fiscal year from the sale date for accurate price matching.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Total_Gross_Price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(sold_quantity × gross_price)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Filters results by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customer_code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fiscal_year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sorts by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 (ascending)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limits output 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1,000,000 records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5270DAF6-50E1-824E-065A-0267983E7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179" y="565359"/>
            <a:ext cx="5822354" cy="621708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Retrieves sales data for customer 90002002 (Croma) in fiscal year 2021, showing product name, variant, sold quantity, gross price, and total gross price.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Joins </a:t>
            </a:r>
            <a:r>
              <a:rPr lang="en-US" alt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fact_sales_monthly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dim_product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alt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fact_gross_price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tables using </a:t>
            </a:r>
            <a:r>
              <a:rPr lang="en-US" alt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product_code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alt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fiscal_year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the </a:t>
            </a:r>
            <a:r>
              <a:rPr lang="en-US" alt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get_fiscal_year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function to extract the fiscal year from the sale date for accurate price matching.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Calculates </a:t>
            </a:r>
            <a:r>
              <a:rPr lang="en-US" alt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Total_Gross_Price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</a:t>
            </a:r>
            <a:r>
              <a:rPr lang="en-US" alt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en-US" sz="20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sold_quantity</a:t>
            </a:r>
            <a:r>
              <a:rPr lang="en-US" alt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× </a:t>
            </a:r>
            <a:r>
              <a:rPr lang="en-US" altLang="en-US" sz="20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gross_price</a:t>
            </a:r>
            <a:r>
              <a:rPr lang="en-US" alt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Filters results by </a:t>
            </a:r>
            <a:r>
              <a:rPr lang="en-US" alt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customer_code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alt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fiscal_year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sorts by date (ascending), and limits output to 1,000,000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8BB7C6-C1BD-724F-E8FA-1B945571F9CA}"/>
              </a:ext>
            </a:extLst>
          </p:cNvPr>
          <p:cNvSpPr txBox="1"/>
          <p:nvPr/>
        </p:nvSpPr>
        <p:spPr>
          <a:xfrm>
            <a:off x="5473273" y="41569"/>
            <a:ext cx="960519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IN" sz="1800" b="1" dirty="0">
                <a:solidFill>
                  <a:schemeClr val="tx2"/>
                </a:solidFill>
                <a:latin typeface="Algerian" panose="04020705040A02060702" pitchFamily="82" charset="0"/>
                <a:ea typeface="Nirmala UI" panose="020B0502040204020203" pitchFamily="34" charset="0"/>
                <a:cs typeface="Nirmala UI" panose="020B0502040204020203" pitchFamily="34" charset="0"/>
              </a:rPr>
              <a:t>TASK</a:t>
            </a:r>
            <a:r>
              <a:rPr lang="en-IN" sz="1800" b="1" dirty="0">
                <a:solidFill>
                  <a:schemeClr val="tx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IN" sz="1800" b="1" dirty="0">
                <a:solidFill>
                  <a:schemeClr val="tx2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23641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9130F9-4489-EAFD-2945-8327F4983E5E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4</a:t>
            </a:fld>
            <a:endParaRPr lang="en-US" altLang="zh-C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A89CEF3-7A99-797C-6614-B6F286C58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570" y="111152"/>
            <a:ext cx="5594430" cy="34075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CB6A4A3-76E7-DCC1-F9AD-5D375F2CC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30" y="111152"/>
            <a:ext cx="6274918" cy="34075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B66A095-2D16-34A3-F96A-33250A07E0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330" y="3626798"/>
            <a:ext cx="11996670" cy="31200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D7D4E51F-6D63-3D83-AE7D-D7E0C65F82D5}"/>
              </a:ext>
            </a:extLst>
          </p:cNvPr>
          <p:cNvSpPr txBox="1">
            <a:spLocks/>
          </p:cNvSpPr>
          <p:nvPr/>
        </p:nvSpPr>
        <p:spPr>
          <a:xfrm flipH="1">
            <a:off x="195330" y="0"/>
            <a:ext cx="2571020" cy="532436"/>
          </a:xfrm>
          <a:prstGeom prst="rect">
            <a:avLst/>
          </a:prstGeom>
          <a:solidFill>
            <a:srgbClr val="D6E0EB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>
                <a:latin typeface="Algerian" panose="04020705040A02060702" pitchFamily="82" charset="0"/>
              </a:rPr>
              <a:t>Solution pictures</a:t>
            </a:r>
            <a:endParaRPr lang="en-IN" sz="20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899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416068-60A7-1AF9-F2A4-14D0714FA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FF512-84B0-8168-1D32-083F6876A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79" y="0"/>
            <a:ext cx="3717188" cy="452470"/>
          </a:xfrm>
          <a:solidFill>
            <a:srgbClr val="D6E0EB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/>
          <a:lstStyle/>
          <a:p>
            <a:r>
              <a:rPr lang="en-IN" sz="2800" dirty="0">
                <a:latin typeface="Algerian" panose="04020705040A02060702" pitchFamily="82" charset="0"/>
                <a:ea typeface="Calibri" panose="020F0502020204030204" pitchFamily="34" charset="0"/>
                <a:cs typeface="Calibri" panose="020F0502020204030204" pitchFamily="34" charset="0"/>
              </a:rPr>
              <a:t>FINANCE ANALYTICS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A67AB0-E4A5-5546-86B9-891C59C44040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5</a:t>
            </a:fld>
            <a:endParaRPr lang="en-US" altLang="zh-C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4D92CDC-0A52-8ED9-0797-A030CA5981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0881" y="798949"/>
            <a:ext cx="5879940" cy="5601533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</p:pic>
      <p:sp>
        <p:nvSpPr>
          <p:cNvPr id="17" name="Rectangle 3">
            <a:extLst>
              <a:ext uri="{FF2B5EF4-FFF2-40B4-BE49-F238E27FC236}">
                <a16:creationId xmlns:a16="http://schemas.microsoft.com/office/drawing/2014/main" id="{316B61E2-2BA9-FE63-75AC-4E605A5320B3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-110840661" y="2824388"/>
            <a:ext cx="74990868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Retrieves sales data for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90002002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fiscal year 2021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showing product name, variant, sold quantity, gross price, and total gross price.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Joins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fact_sales_monthly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dim_product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fact_gross_price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tables using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product_code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fiscal_year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the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get_fiscal_year()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function to extract the fiscal year from the sale date for accurate price matching.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Total_Gross_Price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(sold_quantity × gross_price)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Filters results by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customer_code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fiscal_year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sorts by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 (ascending)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limits output 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1,000,000 records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8023B8-1589-13C1-17CA-5076A4082957}"/>
              </a:ext>
            </a:extLst>
          </p:cNvPr>
          <p:cNvSpPr txBox="1"/>
          <p:nvPr/>
        </p:nvSpPr>
        <p:spPr>
          <a:xfrm>
            <a:off x="5447625" y="41569"/>
            <a:ext cx="1011816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IN" sz="1800" b="1" dirty="0">
                <a:solidFill>
                  <a:schemeClr val="tx2"/>
                </a:solidFill>
                <a:latin typeface="Algerian" panose="04020705040A02060702" pitchFamily="82" charset="0"/>
                <a:ea typeface="微软雅黑"/>
                <a:cs typeface="Posterama" panose="020B0504020200020000" pitchFamily="34" charset="0"/>
              </a:rPr>
              <a:t>TASK 2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55A16C9-C125-95F1-B8A3-51B479201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179" y="798949"/>
            <a:ext cx="5822354" cy="560153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Retrieves the total gross price per month for customer 90002002 (Croma) from the sales data.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Joins the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fact_sales_monthly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fact_gross_price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tables using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product_code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fiscal_year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Uses the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get_fiscal_year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 function to extract the fiscal year from the sale date to match price data correctly.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Calculates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Total_Gross_Price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as the sum of (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sold_quantity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×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gross_price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for each month, rounded to 2 decimal places.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Groups the data by month (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S.date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and sorts it in ascending order to show month-wise sales performance</a:t>
            </a:r>
            <a:r>
              <a:rPr lang="en-US" alt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8722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91F80-7E0D-2808-25B9-7A8DFC27A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317294-65F1-8C4D-E37E-FA652C354B03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6</a:t>
            </a:fld>
            <a:endParaRPr lang="en-US" altLang="zh-C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B276EE6-6CCD-7BEF-CB23-D49DD50F77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597570" y="111153"/>
            <a:ext cx="5399100" cy="34075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C16D12E-5183-097B-533D-77626E36D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30" y="111152"/>
            <a:ext cx="6274918" cy="34075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67D626C-5143-8A95-5435-755D684D95A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95330" y="3626798"/>
            <a:ext cx="11801340" cy="31200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C3C67CC6-8A2E-04A7-D315-C5CB352683C9}"/>
              </a:ext>
            </a:extLst>
          </p:cNvPr>
          <p:cNvSpPr txBox="1">
            <a:spLocks/>
          </p:cNvSpPr>
          <p:nvPr/>
        </p:nvSpPr>
        <p:spPr>
          <a:xfrm flipH="1">
            <a:off x="195330" y="0"/>
            <a:ext cx="2571020" cy="532436"/>
          </a:xfrm>
          <a:prstGeom prst="rect">
            <a:avLst/>
          </a:prstGeom>
          <a:solidFill>
            <a:srgbClr val="D6E0EB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>
                <a:latin typeface="Algerian" panose="04020705040A02060702" pitchFamily="82" charset="0"/>
              </a:rPr>
              <a:t>Solution pictures</a:t>
            </a:r>
            <a:endParaRPr lang="en-IN" sz="20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385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9C39A-183D-7E55-A548-C3994B828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22B5F-A54A-B437-9053-B8ACFC740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79" y="0"/>
            <a:ext cx="3717188" cy="452470"/>
          </a:xfrm>
          <a:solidFill>
            <a:srgbClr val="D6E0EB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/>
          <a:lstStyle/>
          <a:p>
            <a:r>
              <a:rPr lang="en-IN" sz="2800" dirty="0">
                <a:latin typeface="Algerian" panose="04020705040A02060702" pitchFamily="82" charset="0"/>
                <a:ea typeface="Calibri" panose="020F0502020204030204" pitchFamily="34" charset="0"/>
                <a:cs typeface="Calibri" panose="020F0502020204030204" pitchFamily="34" charset="0"/>
              </a:rPr>
              <a:t>FINANCE ANALYTICS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86834A-A4EC-1514-BD74-A3818E74074E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7</a:t>
            </a:fld>
            <a:endParaRPr lang="en-US" altLang="zh-C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6632EF-5F28-0A8D-F364-11AAF86BFC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488819" y="469897"/>
            <a:ext cx="4572001" cy="6113148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</p:pic>
      <p:sp>
        <p:nvSpPr>
          <p:cNvPr id="17" name="Rectangle 3">
            <a:extLst>
              <a:ext uri="{FF2B5EF4-FFF2-40B4-BE49-F238E27FC236}">
                <a16:creationId xmlns:a16="http://schemas.microsoft.com/office/drawing/2014/main" id="{2CEB2709-063C-7ACC-135A-FE4DD2C8139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-110840661" y="2824388"/>
            <a:ext cx="74990868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Retrieves sales data for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90002002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fiscal year 2021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showing product name, variant, sold quantity, gross price, and total gross price.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Joins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fact_sales_monthly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dim_product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fact_gross_price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tables using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product_code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fiscal_year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the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get_fiscal_year()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function to extract the fiscal year from the sale date for accurate price matching.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Total_Gross_Price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(sold_quantity × gross_price)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Filters results by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customer_code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fiscal_year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sorts by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 (ascending)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limits output 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1,000,000 records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74187C-A56A-2CDA-2E59-A8D9BA011E99}"/>
              </a:ext>
            </a:extLst>
          </p:cNvPr>
          <p:cNvSpPr txBox="1"/>
          <p:nvPr/>
        </p:nvSpPr>
        <p:spPr>
          <a:xfrm>
            <a:off x="5447625" y="41569"/>
            <a:ext cx="1011816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IN" sz="1800" b="1" dirty="0">
                <a:solidFill>
                  <a:schemeClr val="tx2"/>
                </a:solidFill>
                <a:latin typeface="Algerian" panose="04020705040A02060702" pitchFamily="82" charset="0"/>
                <a:ea typeface="微软雅黑"/>
                <a:cs typeface="Posterama" panose="020B0504020200020000" pitchFamily="34" charset="0"/>
              </a:rPr>
              <a:t>TASK</a:t>
            </a:r>
            <a:r>
              <a:rPr lang="en-IN" sz="1800" b="1" dirty="0">
                <a:solidFill>
                  <a:schemeClr val="tx2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 3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A2BA58F1-BF72-3D4D-D1CA-D4FDE0672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179" y="469897"/>
            <a:ext cx="7265044" cy="61863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Created A Stored Procedure to automate repeated tasks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Purpose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Determines whether a market earns a “Gold” or “Silver” badge based on total sold quantity in a specific fiscal year.</a:t>
            </a:r>
            <a:endParaRPr lang="en-US" alt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Inputs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in_market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→ Market name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Fiscal_Year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→ Year for which sales are checked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out_badge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→ Output variable that stores the result (Gold/Silver)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Logic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Calculates total sold quantity (qty) for the given market and fiscal year using a join between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fact_sales_monthly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dim_customer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Condition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 qty &gt; 5,000,000, sets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out_badge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"Gold"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Otherwise, sets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out_badge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"Silver".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Outcome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Returns a badge classification for each market based on its total sales performance.</a:t>
            </a:r>
            <a:endParaRPr lang="en-US" alt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452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2AAED-FCC4-E5EF-1A45-AC3E00CF7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1216FD-F38B-B948-2B28-DE9FED11BFCE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8</a:t>
            </a:fld>
            <a:endParaRPr lang="en-US" altLang="zh-C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146A8A1-07AD-53FB-C142-FAEBBB7D62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096000" y="111152"/>
            <a:ext cx="5900669" cy="34075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C8EA0E2-3F49-481D-7F3A-808B363E7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30" y="111152"/>
            <a:ext cx="5649885" cy="34075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2CEFA7D-B985-8278-A12D-CA6E555D4C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06905" y="3626798"/>
            <a:ext cx="5638310" cy="31200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58B77F74-52B8-28C0-0EBA-9CCFD0C90F71}"/>
              </a:ext>
            </a:extLst>
          </p:cNvPr>
          <p:cNvSpPr txBox="1">
            <a:spLocks/>
          </p:cNvSpPr>
          <p:nvPr/>
        </p:nvSpPr>
        <p:spPr>
          <a:xfrm flipH="1">
            <a:off x="195330" y="0"/>
            <a:ext cx="2582594" cy="532436"/>
          </a:xfrm>
          <a:prstGeom prst="rect">
            <a:avLst/>
          </a:prstGeom>
          <a:solidFill>
            <a:srgbClr val="D6E0EB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latin typeface="Algerian" panose="04020705040A02060702" pitchFamily="82" charset="0"/>
              </a:rPr>
              <a:t>Solution pictures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F8ABCF-CB06-67FA-BE6B-B0B3553416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626798"/>
            <a:ext cx="5900669" cy="3120049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0D1BCD4C-527C-1881-BF56-7ED6461C2D1B}"/>
              </a:ext>
            </a:extLst>
          </p:cNvPr>
          <p:cNvSpPr/>
          <p:nvPr/>
        </p:nvSpPr>
        <p:spPr>
          <a:xfrm>
            <a:off x="5368379" y="4944506"/>
            <a:ext cx="978408" cy="484632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277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7EC71-954A-2F32-DB9F-68800D301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D631F-FDFC-5B75-D5BE-78F0D8AE5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79" y="0"/>
            <a:ext cx="3717188" cy="452470"/>
          </a:xfrm>
          <a:solidFill>
            <a:srgbClr val="D6E0EB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/>
          <a:lstStyle/>
          <a:p>
            <a:r>
              <a:rPr lang="en-IN" sz="2800" dirty="0">
                <a:latin typeface="Algerian" panose="04020705040A02060702" pitchFamily="82" charset="0"/>
                <a:ea typeface="Calibri" panose="020F0502020204030204" pitchFamily="34" charset="0"/>
                <a:cs typeface="Calibri" panose="020F0502020204030204" pitchFamily="34" charset="0"/>
              </a:rPr>
              <a:t>FINANCE ANALYTICS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9C154A-62B5-1E70-7B73-8636AED09838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9</a:t>
            </a:fld>
            <a:endParaRPr lang="en-US" altLang="zh-C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C1DD98-AB7B-45CF-9A9A-3EBFA7C23A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488819" y="469897"/>
            <a:ext cx="4572001" cy="6113148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</p:pic>
      <p:sp>
        <p:nvSpPr>
          <p:cNvPr id="17" name="Rectangle 3">
            <a:extLst>
              <a:ext uri="{FF2B5EF4-FFF2-40B4-BE49-F238E27FC236}">
                <a16:creationId xmlns:a16="http://schemas.microsoft.com/office/drawing/2014/main" id="{A4C0F435-0A47-B922-DC42-F7E157DA9DE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-110840661" y="2824388"/>
            <a:ext cx="74990868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Retrieves sales data for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90002002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fiscal year 2021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showing product name, variant, sold quantity, gross price, and total gross price.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Joins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fact_sales_monthly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dim_product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fact_gross_price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tables using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product_code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fiscal_year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the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get_fiscal_year()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function to extract the fiscal year from the sale date for accurate price matching.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Total_Gross_Price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(sold_quantity × gross_price)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Filters results by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customer_code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fiscal_year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sorts by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 (ascending)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limits output 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1,000,000 records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FD71A4-92EF-71B7-339B-55A3A5C59FAF}"/>
              </a:ext>
            </a:extLst>
          </p:cNvPr>
          <p:cNvSpPr txBox="1"/>
          <p:nvPr/>
        </p:nvSpPr>
        <p:spPr>
          <a:xfrm>
            <a:off x="4531512" y="41569"/>
            <a:ext cx="2844048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IN" sz="1800" b="1" dirty="0">
                <a:solidFill>
                  <a:schemeClr val="tx2"/>
                </a:solidFill>
                <a:latin typeface="Algerian" panose="04020705040A02060702" pitchFamily="82" charset="0"/>
                <a:ea typeface="微软雅黑"/>
                <a:cs typeface="Posterama" panose="020B0504020200020000" pitchFamily="34" charset="0"/>
              </a:rPr>
              <a:t>TASK</a:t>
            </a:r>
            <a:r>
              <a:rPr lang="en-IN" sz="1800" b="1" dirty="0">
                <a:solidFill>
                  <a:schemeClr val="tx2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 4: TOP MARKETS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51AFEF82-CED3-8B09-D639-7198A0F99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179" y="583503"/>
            <a:ext cx="7265044" cy="59708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Created A Stored Procedure to automate repeated tasks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Initially, a view for Pre-Invoice Discounts was created to calculate Net Invoice Sales efficiently.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that view, another Post-Invoice Discounts view was developed.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Post-Invoice view, a Net Sales view was built to derive final sales figures.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views were created to optimize query performance, since the direct table join for pre-invoice discount calculations took more than 6 seconds.</a:t>
            </a:r>
            <a:endParaRPr lang="en-US" alt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the Net Sales view was used to create this stored procedure to fetch the Top N performing Markets.</a:t>
            </a:r>
          </a:p>
          <a:p>
            <a:r>
              <a:rPr lang="en-US" b="1" dirty="0"/>
              <a:t>Logic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Selects Market  name and the sum of net sales from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net_sales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view.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net sales into millions and rounds to 2 decimal places for readability.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records by the given fiscal year.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Groups data by Market to calculate total sales per Market.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results in descending order of Net Sales.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Limits the output to the Top N Markets as specified by the input parameter.</a:t>
            </a:r>
          </a:p>
        </p:txBody>
      </p:sp>
    </p:spTree>
    <p:extLst>
      <p:ext uri="{BB962C8B-B14F-4D97-AF65-F5344CB8AC3E}">
        <p14:creationId xmlns:p14="http://schemas.microsoft.com/office/powerpoint/2010/main" val="81185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08A31-EA80-F1A0-826F-5939A8A8E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DB015C-2E9D-F650-BEA0-55C9CFCBB5FD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10</a:t>
            </a:fld>
            <a:endParaRPr lang="en-US" altLang="zh-C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43FA8EA-0273-FD7F-024A-324BC57C2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95330" y="145139"/>
            <a:ext cx="11801339" cy="33395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567D7A0-EB39-D212-B350-292DB798EF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6905" y="3626799"/>
            <a:ext cx="5638310" cy="312004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039BBBBF-728A-67CF-2A0D-656D898D8120}"/>
              </a:ext>
            </a:extLst>
          </p:cNvPr>
          <p:cNvSpPr txBox="1">
            <a:spLocks/>
          </p:cNvSpPr>
          <p:nvPr/>
        </p:nvSpPr>
        <p:spPr>
          <a:xfrm flipH="1">
            <a:off x="195330" y="0"/>
            <a:ext cx="2582594" cy="532436"/>
          </a:xfrm>
          <a:prstGeom prst="rect">
            <a:avLst/>
          </a:prstGeom>
          <a:solidFill>
            <a:srgbClr val="D6E0EB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latin typeface="Algerian" panose="04020705040A02060702" pitchFamily="82" charset="0"/>
              </a:rPr>
              <a:t>Solution pictures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49EF45-9F1F-9020-2E6A-9285071830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46785" y="3626798"/>
            <a:ext cx="5638310" cy="3120049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2908624C-8357-B810-8952-130B09ED70B8}"/>
              </a:ext>
            </a:extLst>
          </p:cNvPr>
          <p:cNvSpPr/>
          <p:nvPr/>
        </p:nvSpPr>
        <p:spPr>
          <a:xfrm>
            <a:off x="5368379" y="4944506"/>
            <a:ext cx="978408" cy="484632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707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719C4-BD7B-594E-7F95-39A503BBD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1BFE3-5EB6-BF62-B1F4-DE1344798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79" y="0"/>
            <a:ext cx="3717188" cy="452470"/>
          </a:xfrm>
          <a:solidFill>
            <a:srgbClr val="D6E0EB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/>
          <a:lstStyle/>
          <a:p>
            <a:r>
              <a:rPr lang="en-IN" sz="2800" dirty="0">
                <a:latin typeface="Algerian" panose="04020705040A02060702" pitchFamily="82" charset="0"/>
                <a:ea typeface="Calibri" panose="020F0502020204030204" pitchFamily="34" charset="0"/>
                <a:cs typeface="Calibri" panose="020F0502020204030204" pitchFamily="34" charset="0"/>
              </a:rPr>
              <a:t>FINANCE ANALYTICS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484FE7-8ACC-A609-FF13-BC9F3693B39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11</a:t>
            </a:fld>
            <a:endParaRPr lang="en-US" altLang="zh-C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DF99E8-1080-6391-D50A-732333B61E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11814" y="1598319"/>
            <a:ext cx="4572001" cy="4126803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</p:pic>
      <p:sp>
        <p:nvSpPr>
          <p:cNvPr id="17" name="Rectangle 3">
            <a:extLst>
              <a:ext uri="{FF2B5EF4-FFF2-40B4-BE49-F238E27FC236}">
                <a16:creationId xmlns:a16="http://schemas.microsoft.com/office/drawing/2014/main" id="{26C2B93B-8615-16F2-6BD9-CB38D0474F93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-110840661" y="2824388"/>
            <a:ext cx="74990868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Retrieves sales data for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90002002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fiscal year 2021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showing product name, variant, sold quantity, gross price, and total gross price.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Joins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fact_sales_monthly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dim_product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fact_gross_price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tables using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product_code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fiscal_year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the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get_fiscal_year()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function to extract the fiscal year from the sale date for accurate price matching.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Total_Gross_Price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(sold_quantity × gross_price)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Filters results by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customer_code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fiscal_year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sorts by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 (ascending)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limits output 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1,000,000 records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A312B5-69F9-4315-6183-69F3C0185B88}"/>
              </a:ext>
            </a:extLst>
          </p:cNvPr>
          <p:cNvSpPr txBox="1"/>
          <p:nvPr/>
        </p:nvSpPr>
        <p:spPr>
          <a:xfrm>
            <a:off x="4395255" y="41569"/>
            <a:ext cx="3116559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IN" sz="1800" b="1" dirty="0">
                <a:solidFill>
                  <a:schemeClr val="tx2"/>
                </a:solidFill>
                <a:latin typeface="Algerian" panose="04020705040A02060702" pitchFamily="82" charset="0"/>
                <a:ea typeface="微软雅黑"/>
                <a:cs typeface="Posterama" panose="020B0504020200020000" pitchFamily="34" charset="0"/>
              </a:rPr>
              <a:t>TASK</a:t>
            </a:r>
            <a:r>
              <a:rPr lang="en-IN" sz="1800" b="1" dirty="0">
                <a:solidFill>
                  <a:schemeClr val="tx2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 4: TOP CUSTOMERS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459B9419-BE7E-FFEF-FAB4-F2E563C9A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176" y="507011"/>
            <a:ext cx="7265044" cy="63094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Created A Stored Procedure to automate repeated tasks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after creating the Net Sales view, which was optimized using pre-invoice and post-invoice discount views to reduce query time.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stored procedure helps analyze top-performing customers in a specific market and fiscal year, based on their Net Sales..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display the Top N customers in a selected market and fiscal year, ranked by their Net Sales value.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in_market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Market name (e.g., India, USA, etc.)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in_fiscal_year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Fiscal year to filter the data.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in_top_N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Number of top customers to return</a:t>
            </a:r>
            <a:endParaRPr lang="en-US" altLang="en-U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Selects customer name and total Net Sales from the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net_sales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view.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Joins with the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dim_customer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 using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customer_code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fetch customer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details.Filters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records by the given fiscal year.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records by the given market and fiscal year.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result in descending order of Net Sales.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Limits the output to the Top N Customers as specified by the input parameter.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Top N customers for a chosen market and fiscal year, along with their Net Sales (in millions) — enabling quick market-wise performance analysis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397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91D34-869D-51EF-A199-1A7DD8935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10CF40-4663-555D-67AD-B878C06A1E1B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12</a:t>
            </a:fld>
            <a:endParaRPr lang="en-US" altLang="zh-C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D9F50D7-EE3D-EC1A-617C-5CE4DC45FC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6905" y="145139"/>
            <a:ext cx="11778189" cy="33395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0CB73DB-F74C-E938-28DD-72490FA4C8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6905" y="3626763"/>
            <a:ext cx="5638310" cy="308609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1B999E67-37AD-F3BD-1CB7-E9BD78D99EBD}"/>
              </a:ext>
            </a:extLst>
          </p:cNvPr>
          <p:cNvSpPr txBox="1">
            <a:spLocks/>
          </p:cNvSpPr>
          <p:nvPr/>
        </p:nvSpPr>
        <p:spPr>
          <a:xfrm flipH="1">
            <a:off x="195330" y="0"/>
            <a:ext cx="2582594" cy="532436"/>
          </a:xfrm>
          <a:prstGeom prst="rect">
            <a:avLst/>
          </a:prstGeom>
          <a:solidFill>
            <a:srgbClr val="D6E0EB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latin typeface="Algerian" panose="04020705040A02060702" pitchFamily="82" charset="0"/>
              </a:rPr>
              <a:t>Solution pictures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488C30-8BFA-541F-5E94-1925451F4A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6000" y="3626763"/>
            <a:ext cx="5889095" cy="3040211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F896EFDC-14CE-8395-0E13-8DE6BC8B04FB}"/>
              </a:ext>
            </a:extLst>
          </p:cNvPr>
          <p:cNvSpPr/>
          <p:nvPr/>
        </p:nvSpPr>
        <p:spPr>
          <a:xfrm>
            <a:off x="5368379" y="4944506"/>
            <a:ext cx="978408" cy="484632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959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6DDFA-9D3F-3EF0-D958-5FCB57BF5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FA19C-6110-DDA8-6F3C-BF109FD34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79" y="0"/>
            <a:ext cx="3717188" cy="452470"/>
          </a:xfrm>
          <a:solidFill>
            <a:srgbClr val="D6E0EB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/>
          <a:lstStyle/>
          <a:p>
            <a:r>
              <a:rPr lang="en-IN" sz="2800" dirty="0">
                <a:latin typeface="Algerian" panose="04020705040A02060702" pitchFamily="82" charset="0"/>
                <a:ea typeface="Calibri" panose="020F0502020204030204" pitchFamily="34" charset="0"/>
                <a:cs typeface="Calibri" panose="020F0502020204030204" pitchFamily="34" charset="0"/>
              </a:rPr>
              <a:t>FINANCE ANALYTICS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A76237-B281-19B2-FC83-DDA3701DBE0A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13</a:t>
            </a:fld>
            <a:endParaRPr lang="en-US" altLang="zh-C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FC29016-E85A-E47B-141E-2F7718446A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488819" y="1250066"/>
            <a:ext cx="4572001" cy="3993266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</p:pic>
      <p:sp>
        <p:nvSpPr>
          <p:cNvPr id="17" name="Rectangle 3">
            <a:extLst>
              <a:ext uri="{FF2B5EF4-FFF2-40B4-BE49-F238E27FC236}">
                <a16:creationId xmlns:a16="http://schemas.microsoft.com/office/drawing/2014/main" id="{C4E7A618-CE3C-0BB8-E772-981ECFBB9E3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-110840661" y="2824388"/>
            <a:ext cx="74990868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Retrieves sales data for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90002002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fiscal year 2021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showing product name, variant, sold quantity, gross price, and total gross price.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Joins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fact_sales_monthly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dim_product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fact_gross_price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tables using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product_code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fiscal_year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the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get_fiscal_year()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function to extract the fiscal year from the sale date for accurate price matching.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Total_Gross_Price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(sold_quantity × gross_price)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Filters results by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customer_code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fiscal_year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sorts by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 (ascending)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limits output 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1,000,000 records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39D56A-3658-BB7B-6B77-1EF3ECBEAB6A}"/>
              </a:ext>
            </a:extLst>
          </p:cNvPr>
          <p:cNvSpPr txBox="1"/>
          <p:nvPr/>
        </p:nvSpPr>
        <p:spPr>
          <a:xfrm>
            <a:off x="4466589" y="41569"/>
            <a:ext cx="297389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IN" sz="1800" b="1" dirty="0">
                <a:solidFill>
                  <a:schemeClr val="tx2"/>
                </a:solidFill>
                <a:latin typeface="Algerian" panose="04020705040A02060702" pitchFamily="82" charset="0"/>
                <a:ea typeface="微软雅黑"/>
                <a:cs typeface="Posterama" panose="020B0504020200020000" pitchFamily="34" charset="0"/>
              </a:rPr>
              <a:t>TASK</a:t>
            </a:r>
            <a:r>
              <a:rPr lang="en-IN" sz="1800" b="1" dirty="0">
                <a:solidFill>
                  <a:schemeClr val="tx2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 4: TOP PRODUCTS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58DC02A-B597-381D-1953-04E2DA90B1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179" y="610135"/>
            <a:ext cx="7265044" cy="61247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Created A Stored Procedure to automate repeated tasks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after creating the Net Sales view, which was optimized using pre-invoice and post-invoice discount views to reduce query time.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stored procedure helps analyze top-performing Products in a specific fiscal year, based on their Net Sales.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display the Top N Products in a selected  fiscal year, ranked by their Net Sales value.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in_fiscal_year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Fiscal year to filter the data.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in_top_N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Number of top products to return</a:t>
            </a:r>
            <a:endParaRPr lang="en-US" altLang="en-U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Selects Product  name and the sum of net sales from the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net_sales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view.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net sales into millions and rounds to 2 decimal places for readability.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records by the given fiscal year.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Groups data by Product to calculate total sales per product.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results in descending order of Net Sales.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Limits the output to the Top N Products as specified by the input parameter.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Top N Products with their Net Sales (in millions) for the selected Fiscal Year, enabling quick performance comparison across products.</a:t>
            </a:r>
          </a:p>
        </p:txBody>
      </p:sp>
    </p:spTree>
    <p:extLst>
      <p:ext uri="{BB962C8B-B14F-4D97-AF65-F5344CB8AC3E}">
        <p14:creationId xmlns:p14="http://schemas.microsoft.com/office/powerpoint/2010/main" val="1647155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EEF0A-270B-C712-AC02-FA0EDCD70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D59737-D92A-38D1-26D0-4A450F08054C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14</a:t>
            </a:fld>
            <a:endParaRPr lang="en-US" altLang="zh-C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F7837F2-5890-8CED-12A2-6A2E5FE9D6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95330" y="145139"/>
            <a:ext cx="11789765" cy="33395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8CCF3E0-F913-F844-9E61-E30EDCC599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6905" y="3626763"/>
            <a:ext cx="5638310" cy="30402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3E238BA6-93EA-45CD-781B-9A19B46F0BF5}"/>
              </a:ext>
            </a:extLst>
          </p:cNvPr>
          <p:cNvSpPr txBox="1">
            <a:spLocks/>
          </p:cNvSpPr>
          <p:nvPr/>
        </p:nvSpPr>
        <p:spPr>
          <a:xfrm flipH="1">
            <a:off x="195330" y="0"/>
            <a:ext cx="2582594" cy="532436"/>
          </a:xfrm>
          <a:prstGeom prst="rect">
            <a:avLst/>
          </a:prstGeom>
          <a:solidFill>
            <a:srgbClr val="D6E0EB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latin typeface="Algerian" panose="04020705040A02060702" pitchFamily="82" charset="0"/>
              </a:rPr>
              <a:t>Solution pictures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51F7E4-2E80-0758-BEEF-138A938E22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38754" y="3626763"/>
            <a:ext cx="5746341" cy="3040211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968A8291-3D92-2594-F259-CB2525EC188F}"/>
              </a:ext>
            </a:extLst>
          </p:cNvPr>
          <p:cNvSpPr/>
          <p:nvPr/>
        </p:nvSpPr>
        <p:spPr>
          <a:xfrm>
            <a:off x="5368379" y="4944506"/>
            <a:ext cx="978408" cy="484632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202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D64F0-C7FF-DC3B-E896-1D96AEBC7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67D9E-A1DE-7635-AFCB-6E38DFB2D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79" y="0"/>
            <a:ext cx="3717188" cy="452470"/>
          </a:xfrm>
          <a:solidFill>
            <a:srgbClr val="D6E0EB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/>
          <a:lstStyle/>
          <a:p>
            <a:r>
              <a:rPr lang="en-IN" sz="2800" dirty="0">
                <a:latin typeface="Algerian" panose="04020705040A02060702" pitchFamily="82" charset="0"/>
                <a:ea typeface="Calibri" panose="020F0502020204030204" pitchFamily="34" charset="0"/>
                <a:cs typeface="Calibri" panose="020F0502020204030204" pitchFamily="34" charset="0"/>
              </a:rPr>
              <a:t>FINANCE ANALYTICS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BE729C-4033-8C57-C88B-13650612A05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15</a:t>
            </a:fld>
            <a:endParaRPr lang="en-US" altLang="zh-C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C6659C-F6E5-6D7B-3CAC-C7F9691FA0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096000" y="950734"/>
            <a:ext cx="5687565" cy="5632311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</p:pic>
      <p:sp>
        <p:nvSpPr>
          <p:cNvPr id="17" name="Rectangle 3">
            <a:extLst>
              <a:ext uri="{FF2B5EF4-FFF2-40B4-BE49-F238E27FC236}">
                <a16:creationId xmlns:a16="http://schemas.microsoft.com/office/drawing/2014/main" id="{CF01D167-A868-13FA-1458-5190A2A82F8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-110840661" y="2824388"/>
            <a:ext cx="74990868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Retrieves sales data for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90002002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fiscal year 2021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showing product name, variant, sold quantity, gross price, and total gross price.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Joins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fact_sales_monthly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dim_product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fact_gross_price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tables using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product_code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fiscal_year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the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get_fiscal_year()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function to extract the fiscal year from the sale date for accurate price matching.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Total_Gross_Price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(sold_quantity × gross_price)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Filters results by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customer_code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fiscal_year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sorts by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 (ascending)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limits output 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1,000,000 records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EA0FF2-4A81-F1B6-92C6-BA0185EDAA68}"/>
              </a:ext>
            </a:extLst>
          </p:cNvPr>
          <p:cNvSpPr txBox="1"/>
          <p:nvPr/>
        </p:nvSpPr>
        <p:spPr>
          <a:xfrm>
            <a:off x="5456441" y="41569"/>
            <a:ext cx="994183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IN" sz="1800" b="1" dirty="0">
                <a:solidFill>
                  <a:schemeClr val="tx2"/>
                </a:solidFill>
                <a:latin typeface="Algerian" panose="04020705040A02060702" pitchFamily="82" charset="0"/>
                <a:ea typeface="微软雅黑"/>
                <a:cs typeface="Posterama" panose="020B0504020200020000" pitchFamily="34" charset="0"/>
              </a:rPr>
              <a:t>TASK</a:t>
            </a:r>
            <a:r>
              <a:rPr lang="en-IN" sz="1800" b="1" dirty="0">
                <a:solidFill>
                  <a:schemeClr val="tx2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 5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05374C3E-A6DA-50BF-D19C-87E19BAF4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179" y="950734"/>
            <a:ext cx="5505692" cy="56323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query finds the Top 10 customers based on Net Sales for the fiscal year 2021.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CTE (Common Table Expression) named cte1 first calculates total Net Sales (in millions) per customer.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query uses a window function - SUM(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Net_Sales_mlns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OVER() - to calculate the percentage contribution of each customer’s sales to total sales.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then computes a new column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Net_pct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showing each customer’s share in total sales.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results are sorted by Net Sales (descending) and limited to the top 10 customers.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was exported to CSV and visualized as a horizontal bar chart to meet the analysis requirement</a:t>
            </a:r>
            <a:r>
              <a:rPr lang="en-US" sz="1600" dirty="0"/>
              <a:t>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2662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DC682-D9C6-613A-DE88-6ACE7B3CB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5D759D-A483-6119-D569-17E2C229F86F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16</a:t>
            </a:fld>
            <a:endParaRPr lang="en-US" altLang="zh-C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BAA4A45-D772-0ED9-2932-C4A6E30836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18480" y="481009"/>
            <a:ext cx="5638310" cy="33395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E38F72A-6C72-FD62-2F82-80357F917E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8480" y="3961733"/>
            <a:ext cx="5638310" cy="275541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CEBBC949-73E6-6B89-3421-ED7ADD01741A}"/>
              </a:ext>
            </a:extLst>
          </p:cNvPr>
          <p:cNvSpPr txBox="1">
            <a:spLocks/>
          </p:cNvSpPr>
          <p:nvPr/>
        </p:nvSpPr>
        <p:spPr>
          <a:xfrm flipH="1">
            <a:off x="195330" y="0"/>
            <a:ext cx="2582594" cy="532436"/>
          </a:xfrm>
          <a:prstGeom prst="rect">
            <a:avLst/>
          </a:prstGeom>
          <a:solidFill>
            <a:srgbClr val="D6E0EB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latin typeface="Algerian" panose="04020705040A02060702" pitchFamily="82" charset="0"/>
              </a:rPr>
              <a:t>Solution pictures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E95CB9-F09A-C046-18D2-DDBBD53E5D0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80881" y="481009"/>
            <a:ext cx="5815789" cy="6236142"/>
          </a:xfrm>
          <a:prstGeom prst="rect">
            <a:avLst/>
          </a:prstGeom>
        </p:spPr>
      </p:pic>
      <p:sp>
        <p:nvSpPr>
          <p:cNvPr id="2" name="Arrow: Left-Right-Up 1">
            <a:extLst>
              <a:ext uri="{FF2B5EF4-FFF2-40B4-BE49-F238E27FC236}">
                <a16:creationId xmlns:a16="http://schemas.microsoft.com/office/drawing/2014/main" id="{87F67EE1-B17C-513E-4135-1895D3081E68}"/>
              </a:ext>
            </a:extLst>
          </p:cNvPr>
          <p:cNvSpPr/>
          <p:nvPr/>
        </p:nvSpPr>
        <p:spPr>
          <a:xfrm rot="5400000">
            <a:off x="5532513" y="3395391"/>
            <a:ext cx="778156" cy="850392"/>
          </a:xfrm>
          <a:prstGeom prst="leftRightUp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431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EFFFB-295D-BC7B-38C0-8C84A9D36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64DCC-985D-3F0C-BB41-BFE033E03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79" y="0"/>
            <a:ext cx="3717188" cy="452470"/>
          </a:xfrm>
          <a:solidFill>
            <a:srgbClr val="D6E0EB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/>
          <a:lstStyle/>
          <a:p>
            <a:r>
              <a:rPr lang="en-IN" sz="2800" dirty="0">
                <a:latin typeface="Algerian" panose="04020705040A02060702" pitchFamily="82" charset="0"/>
                <a:ea typeface="Calibri" panose="020F0502020204030204" pitchFamily="34" charset="0"/>
                <a:cs typeface="Calibri" panose="020F0502020204030204" pitchFamily="34" charset="0"/>
              </a:rPr>
              <a:t>FINANCE ANALYTICS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203D0D-65EF-E6B5-6EA8-4EAD2835A78E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17</a:t>
            </a:fld>
            <a:endParaRPr lang="en-US" altLang="zh-C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D42C99-4CA3-373A-DADD-5D44E6C60C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953532" y="612845"/>
            <a:ext cx="5687565" cy="5904862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</p:pic>
      <p:sp>
        <p:nvSpPr>
          <p:cNvPr id="17" name="Rectangle 3">
            <a:extLst>
              <a:ext uri="{FF2B5EF4-FFF2-40B4-BE49-F238E27FC236}">
                <a16:creationId xmlns:a16="http://schemas.microsoft.com/office/drawing/2014/main" id="{11ED50D0-A23A-EC41-2A18-AFEC93D98EE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-110840661" y="2824388"/>
            <a:ext cx="74990868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Retrieves sales data for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90002002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fiscal year 2021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showing product name, variant, sold quantity, gross price, and total gross price.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Joins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fact_sales_monthly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dim_product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fact_gross_price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tables using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product_code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fiscal_year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the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get_fiscal_year()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function to extract the fiscal year from the sale date for accurate price matching.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Total_Gross_Price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(sold_quantity × gross_price)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Filters results by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customer_code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fiscal_year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sorts by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 (ascending)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limits output 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1,000,000 records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29E1C7-CB57-2F39-1257-A497CD033CB7}"/>
              </a:ext>
            </a:extLst>
          </p:cNvPr>
          <p:cNvSpPr txBox="1"/>
          <p:nvPr/>
        </p:nvSpPr>
        <p:spPr>
          <a:xfrm>
            <a:off x="5456441" y="41569"/>
            <a:ext cx="994183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IN" sz="1800" b="1" dirty="0">
                <a:solidFill>
                  <a:schemeClr val="tx2"/>
                </a:solidFill>
                <a:latin typeface="Algerian" panose="04020705040A02060702" pitchFamily="82" charset="0"/>
                <a:ea typeface="微软雅黑"/>
                <a:cs typeface="Posterama" panose="020B0504020200020000" pitchFamily="34" charset="0"/>
              </a:rPr>
              <a:t>TASK</a:t>
            </a:r>
            <a:r>
              <a:rPr lang="en-IN" sz="1800" b="1" dirty="0">
                <a:solidFill>
                  <a:schemeClr val="tx2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 6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B5EEAEBF-BF4B-11F1-F81F-D9E95E62F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392" y="608397"/>
            <a:ext cx="5505692" cy="59093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stored procedure, top_3products_by_sold_quantity_in_each_division, returns the top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products by sold quantity in each division for a given fiscal year.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two parameters —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in_fiscal_year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(year filter)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in_rank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(top rank limit, e.g., 3).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CTE1: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the total sold quantity of each product within every division for the given fiscal year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CTE2: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Assigns a DENSE_RANK() to products within each division based on their total sold quantity in descending order.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Filters and displays only those products whose rank is less than or equal to the input rank (e.g., Top 3).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analyze best-selling products by division to support sales and inventory decisions.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507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000BC-10AC-149F-30ED-A4D488340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20BC1F-BBD1-D727-097D-F10D48455E6C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18</a:t>
            </a:fld>
            <a:endParaRPr lang="en-US" altLang="zh-C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5FC6AE0-0865-2709-7323-1B69C9FB1A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95330" y="550997"/>
            <a:ext cx="11789765" cy="33395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4B34D7F-E6B2-6BBA-2937-FA0BD1C41A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7985" y="4090163"/>
            <a:ext cx="4829140" cy="23679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1FBBB456-1136-91EB-AECB-748AD5B196D1}"/>
              </a:ext>
            </a:extLst>
          </p:cNvPr>
          <p:cNvSpPr txBox="1">
            <a:spLocks/>
          </p:cNvSpPr>
          <p:nvPr/>
        </p:nvSpPr>
        <p:spPr>
          <a:xfrm flipH="1">
            <a:off x="195330" y="0"/>
            <a:ext cx="2582594" cy="532436"/>
          </a:xfrm>
          <a:prstGeom prst="rect">
            <a:avLst/>
          </a:prstGeom>
          <a:solidFill>
            <a:srgbClr val="D6E0EB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latin typeface="Algerian" panose="04020705040A02060702" pitchFamily="82" charset="0"/>
              </a:rPr>
              <a:t>Solution pictures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2A15AF-A3ED-85DE-973F-124AE91786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68052" y="4090163"/>
            <a:ext cx="6217043" cy="2367944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6B548362-BEF0-4E64-DD4E-6833A020EDB1}"/>
              </a:ext>
            </a:extLst>
          </p:cNvPr>
          <p:cNvSpPr/>
          <p:nvPr/>
        </p:nvSpPr>
        <p:spPr>
          <a:xfrm>
            <a:off x="4789644" y="4962654"/>
            <a:ext cx="978408" cy="484632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5985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B7DF7-A572-C693-66B1-6629472CA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5DE11-610F-D0D6-496B-14B56B23B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78" y="0"/>
            <a:ext cx="4753337" cy="452470"/>
          </a:xfrm>
          <a:solidFill>
            <a:srgbClr val="D6E0EB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/>
          <a:lstStyle/>
          <a:p>
            <a:r>
              <a:rPr lang="en-IN" sz="2800" dirty="0">
                <a:latin typeface="Algerian" panose="04020705040A02060702" pitchFamily="82" charset="0"/>
                <a:ea typeface="Calibri" panose="020F0502020204030204" pitchFamily="34" charset="0"/>
                <a:cs typeface="Calibri" panose="020F0502020204030204" pitchFamily="34" charset="0"/>
              </a:rPr>
              <a:t>Supply chain analytics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E38FAE-B9F5-BC53-7CC2-0380562B839A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19</a:t>
            </a:fld>
            <a:endParaRPr lang="en-US" altLang="zh-C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AA04EFA-BB65-CE66-542B-9AB52D7D79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014258" y="507011"/>
            <a:ext cx="5046564" cy="6217880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</p:pic>
      <p:sp>
        <p:nvSpPr>
          <p:cNvPr id="17" name="Rectangle 3">
            <a:extLst>
              <a:ext uri="{FF2B5EF4-FFF2-40B4-BE49-F238E27FC236}">
                <a16:creationId xmlns:a16="http://schemas.microsoft.com/office/drawing/2014/main" id="{D082A218-7043-BD4C-1B75-5E4A170A45F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-110840661" y="2824388"/>
            <a:ext cx="74990868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Retrieves sales data for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90002002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fiscal year 2021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showing product name, variant, sold quantity, gross price, and total gross price.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Joins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fact_sales_monthly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dim_product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fact_gross_price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tables using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product_code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fiscal_year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the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get_fiscal_year()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function to extract the fiscal year from the sale date for accurate price matching.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Total_Gross_Price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(sold_quantity × gross_price)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Filters results by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customer_code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fiscal_year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sorts by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 (ascending)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limits output 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1,000,000 records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4AAC15-BEB3-8E06-4D1B-B649C92C6D31}"/>
              </a:ext>
            </a:extLst>
          </p:cNvPr>
          <p:cNvSpPr txBox="1"/>
          <p:nvPr/>
        </p:nvSpPr>
        <p:spPr>
          <a:xfrm>
            <a:off x="5456441" y="41569"/>
            <a:ext cx="994183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IN" sz="1800" b="1" dirty="0">
                <a:solidFill>
                  <a:schemeClr val="tx2"/>
                </a:solidFill>
                <a:latin typeface="Algerian" panose="04020705040A02060702" pitchFamily="82" charset="0"/>
                <a:ea typeface="微软雅黑"/>
                <a:cs typeface="Posterama" panose="020B0504020200020000" pitchFamily="34" charset="0"/>
              </a:rPr>
              <a:t>TASK</a:t>
            </a:r>
            <a:r>
              <a:rPr lang="en-IN" sz="1800" b="1" dirty="0">
                <a:solidFill>
                  <a:schemeClr val="tx2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 7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57CA32E-67A6-8720-4373-25596C920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178" y="507011"/>
            <a:ext cx="6778908" cy="63094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A helper table named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fact_act_est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created by joining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fact_sales_monthly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(actual sales) and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fact_forecast_monthly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(forecasted sales) to compare actual vs predicted quantities.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The stored procedure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get_forecast_accuracy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calculates the accuracy of sales forecasts for a given fiscal year.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CTE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forecast_err_table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Summarises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sold and forecast quantities per customer and computes metrics like net error, absolute error, and their percentage deviations.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Query: Joins results with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dim_customer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display customer names and markets.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 Accuracy Formula: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 Forecast Accuracy = 100 - Absolute Error % (values above 100 are adjusted to 0).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Lists customers with their forecast accuracy, sorted in descending order to identify the most accurate forecasts.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Case: Helps evaluate forecast performance and improve demand planning accuracy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53025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796AC-C881-7028-F4FE-BB1FE50CA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C9E63D-3215-152C-B359-12E0296B1C9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20</a:t>
            </a:fld>
            <a:endParaRPr lang="en-US" altLang="zh-C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625728B-8FB0-78A4-7210-3D45BA8A1A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354502" y="144675"/>
            <a:ext cx="5630593" cy="30499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56FCA84-CBC3-5CA8-1E1B-53ECCD415E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5330" y="532436"/>
            <a:ext cx="5900670" cy="26621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0EAC8099-267A-9649-DF01-29748F60EE4E}"/>
              </a:ext>
            </a:extLst>
          </p:cNvPr>
          <p:cNvSpPr txBox="1">
            <a:spLocks/>
          </p:cNvSpPr>
          <p:nvPr/>
        </p:nvSpPr>
        <p:spPr>
          <a:xfrm flipH="1">
            <a:off x="195330" y="0"/>
            <a:ext cx="2582594" cy="532436"/>
          </a:xfrm>
          <a:prstGeom prst="rect">
            <a:avLst/>
          </a:prstGeom>
          <a:solidFill>
            <a:srgbClr val="D6E0EB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latin typeface="Algerian" panose="04020705040A02060702" pitchFamily="82" charset="0"/>
              </a:rPr>
              <a:t>Solution pictures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1DB4D8-808C-8117-7B37-EF15F31563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89367" y="3429000"/>
            <a:ext cx="11695727" cy="3284325"/>
          </a:xfrm>
          <a:prstGeom prst="rect">
            <a:avLst/>
          </a:prstGeom>
        </p:spPr>
      </p:pic>
      <p:sp>
        <p:nvSpPr>
          <p:cNvPr id="2" name="Arrow: Down 1">
            <a:extLst>
              <a:ext uri="{FF2B5EF4-FFF2-40B4-BE49-F238E27FC236}">
                <a16:creationId xmlns:a16="http://schemas.microsoft.com/office/drawing/2014/main" id="{2D4D5AEC-6AC3-32CC-A727-BCB6A66F0838}"/>
              </a:ext>
            </a:extLst>
          </p:cNvPr>
          <p:cNvSpPr/>
          <p:nvPr/>
        </p:nvSpPr>
        <p:spPr>
          <a:xfrm>
            <a:off x="2777924" y="2748641"/>
            <a:ext cx="484632" cy="680359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26958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Light Presentation_win32_v5" id="{045A9B2F-7300-4673-816B-F1EB3C673B2C}" vid="{27F8BD87-6984-44CA-8D4F-354B20CB0C1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9">
    <a:dk1>
      <a:srgbClr val="000000"/>
    </a:dk1>
    <a:lt1>
      <a:srgbClr val="FFFFFF"/>
    </a:lt1>
    <a:dk2>
      <a:srgbClr val="0F253E"/>
    </a:dk2>
    <a:lt2>
      <a:srgbClr val="E7E6E6"/>
    </a:lt2>
    <a:accent1>
      <a:srgbClr val="4472C4"/>
    </a:accent1>
    <a:accent2>
      <a:srgbClr val="B83803"/>
    </a:accent2>
    <a:accent3>
      <a:srgbClr val="DCD3CC"/>
    </a:accent3>
    <a:accent4>
      <a:srgbClr val="F79320"/>
    </a:accent4>
    <a:accent5>
      <a:srgbClr val="44668D"/>
    </a:accent5>
    <a:accent6>
      <a:srgbClr val="0F253E"/>
    </a:accent6>
    <a:hlink>
      <a:srgbClr val="AEC0D9"/>
    </a:hlink>
    <a:folHlink>
      <a:srgbClr val="B83903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AD9BE2-6B3D-4616-B044-300A8177DEA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4CFA8B0-C7B8-4655-A378-2962C04794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5515263-A3DE-4193-B6AA-5C449C94519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1177</TotalTime>
  <Words>2652</Words>
  <Application>Microsoft Office PowerPoint</Application>
  <PresentationFormat>Widescreen</PresentationFormat>
  <Paragraphs>215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3" baseType="lpstr">
      <vt:lpstr>等线</vt:lpstr>
      <vt:lpstr>Abadi</vt:lpstr>
      <vt:lpstr>Algerian</vt:lpstr>
      <vt:lpstr>Arial</vt:lpstr>
      <vt:lpstr>Arial Unicode MS</vt:lpstr>
      <vt:lpstr>Calibri</vt:lpstr>
      <vt:lpstr>Nirmala UI</vt:lpstr>
      <vt:lpstr>Posterama</vt:lpstr>
      <vt:lpstr>Posterama Text Black</vt:lpstr>
      <vt:lpstr>Posterama Text SemiBold</vt:lpstr>
      <vt:lpstr>Times New Roman</vt:lpstr>
      <vt:lpstr>Wingdings</vt:lpstr>
      <vt:lpstr>Custom​​</vt:lpstr>
      <vt:lpstr>SQL PROJECT</vt:lpstr>
      <vt:lpstr>PROBLEM STATEMENT</vt:lpstr>
      <vt:lpstr>FINANCE ANALYTICS</vt:lpstr>
      <vt:lpstr>PowerPoint Presentation</vt:lpstr>
      <vt:lpstr>FINANCE ANALYTICS</vt:lpstr>
      <vt:lpstr>PowerPoint Presentation</vt:lpstr>
      <vt:lpstr>FINANCE ANALYTICS</vt:lpstr>
      <vt:lpstr>PowerPoint Presentation</vt:lpstr>
      <vt:lpstr>FINANCE ANALYTICS</vt:lpstr>
      <vt:lpstr>PowerPoint Presentation</vt:lpstr>
      <vt:lpstr>FINANCE ANALYTICS</vt:lpstr>
      <vt:lpstr>PowerPoint Presentation</vt:lpstr>
      <vt:lpstr>FINANCE ANALYTICS</vt:lpstr>
      <vt:lpstr>PowerPoint Presentation</vt:lpstr>
      <vt:lpstr>FINANCE ANALYTICS</vt:lpstr>
      <vt:lpstr>PowerPoint Presentation</vt:lpstr>
      <vt:lpstr>FINANCE ANALYTICS</vt:lpstr>
      <vt:lpstr>PowerPoint Presentation</vt:lpstr>
      <vt:lpstr>Supply chain analytics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velpula vishnu</dc:creator>
  <cp:lastModifiedBy>goguakhila668@outlook.com</cp:lastModifiedBy>
  <cp:revision>3</cp:revision>
  <dcterms:created xsi:type="dcterms:W3CDTF">2025-10-22T12:25:44Z</dcterms:created>
  <dcterms:modified xsi:type="dcterms:W3CDTF">2026-07-16T17:38:05Z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